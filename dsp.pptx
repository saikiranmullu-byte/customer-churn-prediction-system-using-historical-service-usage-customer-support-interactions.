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Raleway" pitchFamily="2" charset="77"/>
      <p:regular r:id="rId14"/>
    </p:embeddedFont>
    <p:embeddedFont>
      <p:font typeface="Raleway Light" pitchFamily="2" charset="77"/>
      <p:regular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00000000000000000" pitchFamily="2" charset="0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860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Churn Prediction System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356682" y="1044377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Historical Service Usage, Customer Support Interactions, and Behavioral Analytics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2210"/>
            <a:ext cx="10868745" cy="4771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05207" y="4786268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Collection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505207" y="5164439"/>
            <a:ext cx="1905200" cy="41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usage and support logs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54423" y="4712989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Action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854423" y="5091160"/>
            <a:ext cx="1905200" cy="41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 targeted interventions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95516" y="1832545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Prediction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95516" y="2210716"/>
            <a:ext cx="1905200" cy="41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churn risk scores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6212483"/>
            <a:ext cx="2160633" cy="192286"/>
          </a:xfrm>
          <a:prstGeom prst="roundRect">
            <a:avLst>
              <a:gd name="adj" fmla="val 22127"/>
            </a:avLst>
          </a:prstGeom>
          <a:solidFill>
            <a:srgbClr val="E1E1EA"/>
          </a:solidFill>
          <a:ln/>
        </p:spPr>
      </p:sp>
      <p:sp>
        <p:nvSpPr>
          <p:cNvPr id="12" name="Text 9"/>
          <p:cNvSpPr/>
          <p:nvPr/>
        </p:nvSpPr>
        <p:spPr>
          <a:xfrm>
            <a:off x="737375" y="6250384"/>
            <a:ext cx="2618417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M.TECH / B.TECH PROJECT PRESENTATION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885408" y="6212483"/>
            <a:ext cx="3527833" cy="192286"/>
          </a:xfrm>
          <a:prstGeom prst="roundRect">
            <a:avLst>
              <a:gd name="adj" fmla="val 22127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1308" y="6250384"/>
            <a:ext cx="3985617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· PREDICTIVE ANALYTICS · BUSINESS INTELLIGENCE</a:t>
            </a:r>
            <a:endParaRPr lang="en-US" sz="7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7D3796-3237-618D-44E1-6B64A570969E}"/>
              </a:ext>
            </a:extLst>
          </p:cNvPr>
          <p:cNvSpPr txBox="1"/>
          <p:nvPr/>
        </p:nvSpPr>
        <p:spPr>
          <a:xfrm>
            <a:off x="7567512" y="6103441"/>
            <a:ext cx="2165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Mr.MULLU</a:t>
            </a:r>
            <a:r>
              <a:rPr lang="en-US"/>
              <a:t> SAI KIRAN</a:t>
            </a:r>
            <a:br>
              <a:rPr lang="en-US"/>
            </a:br>
            <a:r>
              <a:rPr lang="en-US"/>
              <a:t>324129510037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480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&amp; Problem Statement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9857" y="1212949"/>
            <a:ext cx="6030762" cy="5134570"/>
          </a:xfrm>
          <a:prstGeom prst="roundRect">
            <a:avLst>
              <a:gd name="adj" fmla="val 217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4832" y="1358305"/>
            <a:ext cx="572081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Customer Churn?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4832" y="1745853"/>
            <a:ext cx="5720810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churn is the rate at which customers discontinue services or subscriptions. In subscription-based industries — telecom, banking, insurance, and SaaS — churn directly erodes recurring revenue and increases customer acquisition costs, making early detection a critical business priority.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832" y="2852440"/>
            <a:ext cx="572081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832" y="3239988"/>
            <a:ext cx="5720810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businesses struggle to identify at-risk customers </a:t>
            </a:r>
            <a:r>
              <a:rPr lang="en-US" sz="12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leave. Traditional manual analysis of large customer datasets is time-consuming, reactive, and fundamentally cannot scale to the volume and velocity of modern customer 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3562" y="1358305"/>
            <a:ext cx="468290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Machine Learning?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3562" y="1764010"/>
            <a:ext cx="4682909" cy="14565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03786" y="1938040"/>
            <a:ext cx="425866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03786" y="2325588"/>
            <a:ext cx="4258660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Replaces manual, rule-based analysis with automated pattern recognition across thousands of customer records simultaneously.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562" y="3365897"/>
            <a:ext cx="4682909" cy="12162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3786" y="3539927"/>
            <a:ext cx="425866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03786" y="3927475"/>
            <a:ext cx="4258660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Shifts the organization from reactive response to proactive identification of customers likely to churn before they act.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3562" y="4727476"/>
            <a:ext cx="4682909" cy="14565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03786" y="4901505"/>
            <a:ext cx="425866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103786" y="5289054"/>
            <a:ext cx="4258660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detection enables targeted retention strategies — personalized offers, support escalation, and engagement campaigns — reducing revenue loss.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809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58366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is designed to deliver six interconnected capabilities that together form a complete churn intelligence platform.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46200"/>
            <a:ext cx="10868745" cy="7597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250" y="1607344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277608" y="1485503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Binary Churn Prediction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77608" y="1741388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whether an individual customer is likely to churn using historical behavioral, transactional, and support data.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02855"/>
            <a:ext cx="10868745" cy="7597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250" y="2463998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277608" y="2342158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Probability Scoring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77608" y="2598043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a continuous churn probability score (0–100%) for each customer to enable prioritization of retention efforts.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59509"/>
            <a:ext cx="10868745" cy="7597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9250" y="3320653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77608" y="3198813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 Identification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77608" y="3454698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key behavioral patterns and features most strongly contributing to customer attrition across the customer base.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16164"/>
            <a:ext cx="10868745" cy="7597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9250" y="4177308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277608" y="4055467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Segmentation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77608" y="4311352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customers into Low, Medium, and High risk tiers to enable differentiated, targeted retention strategies.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772819"/>
            <a:ext cx="10868745" cy="7597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9250" y="5033963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277608" y="4912122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77608" y="5168007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actionable insights through an interactive visualization dashboard accessible to business and operations teams.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29473"/>
            <a:ext cx="10868745" cy="7597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9250" y="5890617"/>
            <a:ext cx="18990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1277608" y="5768777"/>
            <a:ext cx="1011331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277608" y="6024662"/>
            <a:ext cx="1011331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data-driven decision-making to reduce customer attrition, protect recurring revenue, and improve retention ROI.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6136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&amp; Data Pipeline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883940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3567773"/>
            <a:ext cx="1586822" cy="917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Prediction &amp; Segmentation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387346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Training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372061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372061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Processing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387346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4930973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Upstream: Data Ingestion &amp; Processing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5107980"/>
            <a:ext cx="5339919" cy="3169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4681" y="5120680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74681" y="5304532"/>
            <a:ext cx="5214013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CRM systems, billing platforms, support ticketing systems, and service usage logs feed raw customer records into the pipeline.</a:t>
            </a:r>
            <a:endParaRPr lang="en-US" sz="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5492750"/>
            <a:ext cx="5339919" cy="3169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4681" y="5505450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Processing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4681" y="5689302"/>
            <a:ext cx="5214013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Cleaning, validation, handling missing values, and encoding categorical variables to produce a consistent, analysis-ready dataset.</a:t>
            </a:r>
            <a:endParaRPr lang="en-US" sz="6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5877520"/>
            <a:ext cx="5339919" cy="4245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4681" y="5890220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774681" y="6074073"/>
            <a:ext cx="5214013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Derive meaningful predictive features: tenure, usage patterns, support interaction frequency, payment behavior, and engagement metrics.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6209351" y="4930973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Downstream: Modeling &amp; Output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651" y="5107980"/>
            <a:ext cx="5339919" cy="4245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22557" y="5120680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6322557" y="5304532"/>
            <a:ext cx="5214013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and evaluate multiple classification models — Logistic Regression, Decision Tree, Random Forest, SVM, and Gradient Boosting — on labeled historical data.</a:t>
            </a:r>
            <a:endParaRPr lang="en-US" sz="6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651" y="5600402"/>
            <a:ext cx="5339919" cy="31690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22557" y="5613102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Prediction &amp; Segmentation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6322557" y="5796955"/>
            <a:ext cx="5214013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individual churn probability scores and classify each customer into Low, Medium, or High risk categories for operational use.</a:t>
            </a:r>
            <a:endParaRPr lang="en-US" sz="6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651" y="5985173"/>
            <a:ext cx="5339919" cy="31690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322557" y="5997873"/>
            <a:ext cx="521401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&amp; Insights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6322557" y="6181725"/>
            <a:ext cx="5214013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predictions, surface retention recommendations, and provide business teams with actionable, customer-level intelligence.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122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Customer Data &amp;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38634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predictive model draws on six categories of customer data, each capturing a distinct dimension of customer behavior and engagement.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476970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323" y="1622822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7323" y="1911449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Tenure &amp; subscription duration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type &amp; service tier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terms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54683" y="1476970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0531" y="1622822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Usage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0531" y="1911449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frequency &amp; volume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utilization rate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 trend over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2874963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7323" y="3020814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Interactions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7323" y="3309441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Complaint frequency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 resolution time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Unresolved problem 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4683" y="2874963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531" y="3020814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Behavior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0531" y="3309441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history &amp; delays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transactions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consistency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1475" y="4272955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323" y="4418806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Metrics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7323" y="4707434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frequency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adoption rate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Days since last activity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54683" y="4272955"/>
            <a:ext cx="5375537" cy="1280319"/>
          </a:xfrm>
          <a:prstGeom prst="roundRect">
            <a:avLst>
              <a:gd name="adj" fmla="val 457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531" y="4418806"/>
            <a:ext cx="508384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Indicators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00531" y="4707434"/>
            <a:ext cx="5083842" cy="699988"/>
          </a:xfrm>
          <a:prstGeom prst="rect">
            <a:avLst/>
          </a:prstGeom>
          <a:noFill/>
          <a:ln/>
        </p:spPr>
        <p:txBody>
          <a:bodyPr wrap="square" lIns="0" tIns="55820" rIns="0" bIns="0" rtlCol="0" anchor="t">
            <a:normAutofit/>
          </a:bodyPr>
          <a:lstStyle/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 volatility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downgrades</a:t>
            </a:r>
            <a:endParaRPr lang="en-US" sz="1050" dirty="0"/>
          </a:p>
          <a:p>
            <a:pPr marL="213360" indent="-21336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Complaint escalation patterns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1475" y="5685730"/>
            <a:ext cx="10868745" cy="705048"/>
          </a:xfrm>
          <a:prstGeom prst="roundRect">
            <a:avLst>
              <a:gd name="adj" fmla="val 8313"/>
            </a:avLst>
          </a:prstGeom>
          <a:solidFill>
            <a:srgbClr val="E1E1EA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73" y="5855791"/>
            <a:ext cx="174422" cy="1395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14893" y="5838230"/>
            <a:ext cx="10275829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 Engineering Principle: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Raw data fields are transformed into derived behavioral signals — e.g., "rate of usage decline over 90 days" or "ratio of unresolved to total support tickets" — which carry stronger predictive power than raw counts alone.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8616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Approach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92907"/>
            <a:ext cx="471406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Algorithms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6856"/>
            <a:ext cx="2304496" cy="1370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482" y="1667669"/>
            <a:ext cx="19266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88482" y="1978521"/>
            <a:ext cx="192668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model. Interpretable coefficients, fast training, establishes performance floor.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942" y="1516856"/>
            <a:ext cx="2304595" cy="137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97949" y="1667669"/>
            <a:ext cx="192678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297949" y="1978521"/>
            <a:ext cx="192678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interpretability. Produces human-readable rules for business stakeholder communication.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91941"/>
            <a:ext cx="2304496" cy="13701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8482" y="3142754"/>
            <a:ext cx="19266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88482" y="3453606"/>
            <a:ext cx="192668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of trees. Strong accuracy, robust to overfitting, provides feature importance rankings.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0942" y="2991941"/>
            <a:ext cx="2304595" cy="13701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97949" y="3142754"/>
            <a:ext cx="192678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SVM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297949" y="3453606"/>
            <a:ext cx="192678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in high-dimensional feature spaces. Suitable when feature count is large relative to samples.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67027"/>
            <a:ext cx="2304496" cy="13701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8482" y="4617839"/>
            <a:ext cx="19266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88482" y="4928691"/>
            <a:ext cx="192668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Sequential ensemble method. Typically highest accuracy; XGBoost/LightGBM variants preferred for production.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608497" y="1087934"/>
            <a:ext cx="6022824" cy="5251351"/>
          </a:xfrm>
          <a:prstGeom prst="roundRect">
            <a:avLst>
              <a:gd name="adj" fmla="val 180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5740256" y="1192907"/>
            <a:ext cx="57593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&amp; Prediction Workflow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740256" y="1516856"/>
            <a:ext cx="263518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740256" y="1721743"/>
            <a:ext cx="57593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16"/>
          <p:cNvSpPr/>
          <p:nvPr/>
        </p:nvSpPr>
        <p:spPr>
          <a:xfrm>
            <a:off x="5740256" y="1825724"/>
            <a:ext cx="57593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Prepare Labeled Data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740256" y="2136577"/>
            <a:ext cx="575930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records with known churn outcomes (churned = 1, retained = 0) form the supervised training set.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740256" y="2719189"/>
            <a:ext cx="263518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740256" y="2924076"/>
            <a:ext cx="57593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0"/>
          <p:cNvSpPr/>
          <p:nvPr/>
        </p:nvSpPr>
        <p:spPr>
          <a:xfrm>
            <a:off x="5740256" y="3028057"/>
            <a:ext cx="57593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740256" y="3338909"/>
            <a:ext cx="575930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features and target variable; split dataset (typically 80/20) to enable unbiased performance evaluation.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740256" y="3921522"/>
            <a:ext cx="263518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740256" y="4126409"/>
            <a:ext cx="57593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1" name="Text 24"/>
          <p:cNvSpPr/>
          <p:nvPr/>
        </p:nvSpPr>
        <p:spPr>
          <a:xfrm>
            <a:off x="5740256" y="4230390"/>
            <a:ext cx="57593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&amp; Evaluation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740256" y="4541242"/>
            <a:ext cx="575930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all candidate models; evaluate on held-out test set using Precision, Recall, F1-Score, and ROC-AUC.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740256" y="5123855"/>
            <a:ext cx="263518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40256" y="5328741"/>
            <a:ext cx="57593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5" name="Text 28"/>
          <p:cNvSpPr/>
          <p:nvPr/>
        </p:nvSpPr>
        <p:spPr>
          <a:xfrm>
            <a:off x="5740256" y="5432723"/>
            <a:ext cx="575930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Inference &amp; Risk Assignment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740256" y="5743575"/>
            <a:ext cx="5759306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best model to new customers: generate probability score → assign risk tier: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(0–33%),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Medium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(33–67%),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(67–100%).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5441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 &amp; Feature Importance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64841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Analytical Dimensions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804392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 Distribution Analysis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2148582"/>
            <a:ext cx="526104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the proportion of churned vs. retained customers. Class imbalance — common in churn datasets — must be addressed via oversampling (SMOTE), undersampling, or class-weight adjustment before model training.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3207345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Correlation &amp; Pattern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3551535"/>
            <a:ext cx="526104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statistical relationships between individual features and the churn label. Key patterns examined: tenure vs. churn rate, service usage volume vs. churn, support ticket frequency vs. churn, and payment delay frequency vs. churn.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4610298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Signal Detection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475" y="4954488"/>
            <a:ext cx="526104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 decline over trailing periods, reduced login frequency, subscription downgrades, and payment irregularities are consistently strong early-warning behavioral signals across subscription industries.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75528" y="1264841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Importance Framework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5528" y="1624211"/>
            <a:ext cx="2569404" cy="1909663"/>
          </a:xfrm>
          <a:prstGeom prst="roundRect">
            <a:avLst>
              <a:gd name="adj" fmla="val 312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3956" y="1772642"/>
            <a:ext cx="227254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Signals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3956" y="2116832"/>
            <a:ext cx="2272549" cy="1268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complaint frequency and unresolved issue counts are among the strongest churn predictors — customers experiencing repeated unresolved problems are significantly more likely to leave.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7067" y="1624211"/>
            <a:ext cx="2569503" cy="1909663"/>
          </a:xfrm>
          <a:prstGeom prst="roundRect">
            <a:avLst>
              <a:gd name="adj" fmla="val 312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5495" y="1772642"/>
            <a:ext cx="227264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 Effect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15495" y="2116832"/>
            <a:ext cx="2272648" cy="105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risk is typically highest in early subscription months and declines with tenure, reflecting switching costs and habit formation over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5528" y="3656013"/>
            <a:ext cx="2569404" cy="1486793"/>
          </a:xfrm>
          <a:prstGeom prst="roundRect">
            <a:avLst>
              <a:gd name="adj" fmla="val 401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3956" y="3804444"/>
            <a:ext cx="227254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Decay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23956" y="4148634"/>
            <a:ext cx="2272549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Declining feature adoption and increasing days-since-last-activity are leading indicators of disengagement preceding churn.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7067" y="3656013"/>
            <a:ext cx="2569503" cy="1486793"/>
          </a:xfrm>
          <a:prstGeom prst="roundRect">
            <a:avLst>
              <a:gd name="adj" fmla="val 401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15495" y="3804444"/>
            <a:ext cx="227264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Irregularity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15495" y="4148634"/>
            <a:ext cx="2272648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transactions and payment delays signal financial friction or reduced commitment, correlating with elevated churn probability.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5528" y="5280124"/>
            <a:ext cx="5261042" cy="925016"/>
          </a:xfrm>
          <a:prstGeom prst="roundRect">
            <a:avLst>
              <a:gd name="adj" fmla="val 6453"/>
            </a:avLst>
          </a:prstGeom>
          <a:solidFill>
            <a:srgbClr val="E1E1EA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606" y="5465862"/>
            <a:ext cx="177597" cy="14208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37281" y="5425480"/>
            <a:ext cx="4657212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importance rankings from Random Forest or Gradient Boosting models provide business teams with interpretable, prioritized drivers of churn for strategic action.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2425" y="1624211"/>
            <a:ext cx="5299141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Shape 24"/>
          <p:cNvSpPr/>
          <p:nvPr/>
        </p:nvSpPr>
        <p:spPr>
          <a:xfrm>
            <a:off x="642425" y="3027164"/>
            <a:ext cx="5299141" cy="381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8" name="Shape 25"/>
          <p:cNvSpPr/>
          <p:nvPr/>
        </p:nvSpPr>
        <p:spPr>
          <a:xfrm>
            <a:off x="642425" y="4430117"/>
            <a:ext cx="5299141" cy="38100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234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&amp; Retention Strategy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1068" y="1217910"/>
            <a:ext cx="4344085" cy="5034855"/>
          </a:xfrm>
          <a:prstGeom prst="roundRect">
            <a:avLst>
              <a:gd name="adj" fmla="val 231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0566" y="1335584"/>
            <a:ext cx="406508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Metrics &amp; Visualizations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517" y="1666974"/>
            <a:ext cx="4084138" cy="9913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8163" y="1686024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Portfolio-Level KPIs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78163" y="2021681"/>
            <a:ext cx="3887492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active customers, overall churn rate, risk distribution across Low / Medium / High tiers, and average churn probability across the customer base.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517" y="2855714"/>
            <a:ext cx="4084138" cy="9913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163" y="2874764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Segmentation Views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8163" y="3210421"/>
            <a:ext cx="3887492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segmentation by risk tier, behavioral trend charts, service usage analysis, and support interaction pattern visualizations.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517" y="4044454"/>
            <a:ext cx="4084138" cy="9913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8163" y="4063504"/>
            <a:ext cx="388749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Customer-Level Drill-Down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78163" y="4399161"/>
            <a:ext cx="3887492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prediction results showing risk score, contributing factors ranked by importance, and recommended retention actions for each high-risk customer.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151408" y="1335584"/>
            <a:ext cx="638506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Action Framework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408" y="1686024"/>
            <a:ext cx="697689" cy="83730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66767" y="1825526"/>
            <a:ext cx="556970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966767" y="2161183"/>
            <a:ext cx="556970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 high-risk customers (probability &gt;67%) from daily model inference runs.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408" y="2523331"/>
            <a:ext cx="697689" cy="10264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66767" y="2662833"/>
            <a:ext cx="556970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966767" y="2998490"/>
            <a:ext cx="556970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by churn probability score and customer lifetime value to focus retention resources efficiently.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408" y="3549749"/>
            <a:ext cx="697689" cy="102641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966767" y="3689251"/>
            <a:ext cx="556970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966767" y="4024908"/>
            <a:ext cx="556970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personalized offers, address unresolved complaints, and escalate support quality for at-risk accounts.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408" y="4576167"/>
            <a:ext cx="697689" cy="102641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966767" y="4715669"/>
            <a:ext cx="556970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5966767" y="5051326"/>
            <a:ext cx="556970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customer response to retention actions; adjust strategies based on observed behavioral changes.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5151408" y="5735042"/>
            <a:ext cx="638506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functions as a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support tool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 surfaces intelligence and recommendations, while human business teams retain authority over final retention decisions and customer communications.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287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 &amp; Implementation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39031"/>
            <a:ext cx="11478330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built on a modern, open-source Python-centric stack with cloud-ready deployment architecture.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466850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743" y="1610122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750" y="1723132"/>
            <a:ext cx="184840" cy="1848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743" y="2134394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743" y="2416373"/>
            <a:ext cx="326074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Pandas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data manipulation and transformation ·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NumPy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numerical processing and array operations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158" y="1466850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5427" y="1610122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8434" y="1723132"/>
            <a:ext cx="184840" cy="1848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5427" y="2134394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5427" y="2416373"/>
            <a:ext cx="326074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Scikit-learn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classification algorithms, cross-validation, hyperparameter tuning, and model evaluation metrics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82842" y="1466850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26110" y="1610122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6" name="Text 12"/>
          <p:cNvSpPr/>
          <p:nvPr/>
        </p:nvSpPr>
        <p:spPr>
          <a:xfrm>
            <a:off x="8239117" y="1700014"/>
            <a:ext cx="184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126110" y="2134394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126110" y="2416373"/>
            <a:ext cx="3260743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Matplotlib &amp; Seaborn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EDA ·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Plotly / Dash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interactive, web-based analytics dashboard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61475" y="3273723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743" y="3416995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1" name="Text 17"/>
          <p:cNvSpPr/>
          <p:nvPr/>
        </p:nvSpPr>
        <p:spPr>
          <a:xfrm>
            <a:off x="917750" y="3506887"/>
            <a:ext cx="184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04743" y="3941266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04743" y="4223246"/>
            <a:ext cx="326074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Flask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FastAPI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RESTful API development, model serving, and integration with frontend and database layers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322158" y="3273723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65427" y="3416995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6" name="Text 22"/>
          <p:cNvSpPr/>
          <p:nvPr/>
        </p:nvSpPr>
        <p:spPr>
          <a:xfrm>
            <a:off x="4578434" y="3506887"/>
            <a:ext cx="184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4465427" y="3941266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465427" y="4223246"/>
            <a:ext cx="326074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HTML, CSS, JavaScript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 user interface layer; dashboard accessible to non-technical business users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982842" y="3273723"/>
            <a:ext cx="3547279" cy="1693466"/>
          </a:xfrm>
          <a:prstGeom prst="roundRect">
            <a:avLst>
              <a:gd name="adj" fmla="val 33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126110" y="3416995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31" name="Text 27"/>
          <p:cNvSpPr/>
          <p:nvPr/>
        </p:nvSpPr>
        <p:spPr>
          <a:xfrm>
            <a:off x="8239117" y="3506887"/>
            <a:ext cx="184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8126110" y="3941266"/>
            <a:ext cx="326074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126110" y="4223246"/>
            <a:ext cx="3260743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MySQL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structured customer data storage, prediction history, and audit logging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61475" y="5080595"/>
            <a:ext cx="10868646" cy="1293019"/>
          </a:xfrm>
          <a:prstGeom prst="roundRect">
            <a:avLst>
              <a:gd name="adj" fmla="val 44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04743" y="5223867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36" name="Text 32"/>
          <p:cNvSpPr/>
          <p:nvPr/>
        </p:nvSpPr>
        <p:spPr>
          <a:xfrm>
            <a:off x="917750" y="5313759"/>
            <a:ext cx="18484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450" dirty="0"/>
          </a:p>
        </p:txBody>
      </p:sp>
      <p:sp>
        <p:nvSpPr>
          <p:cNvPr id="37" name="Text 33"/>
          <p:cNvSpPr/>
          <p:nvPr/>
        </p:nvSpPr>
        <p:spPr>
          <a:xfrm>
            <a:off x="804743" y="5748139"/>
            <a:ext cx="10582109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804743" y="6030119"/>
            <a:ext cx="1058210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AWS / Azure / GCP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cloud platforms for scalable, production-grade deployment with containerization support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7426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Advantages, Limitations &amp; Future Enhancements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86173"/>
            <a:ext cx="335013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1661666"/>
            <a:ext cx="216986" cy="216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1661" y="1654572"/>
            <a:ext cx="287995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Early Detection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Identifies at-risk customers before churn occurs, enabling proactive intervention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2566144"/>
            <a:ext cx="216986" cy="2169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1661" y="2559050"/>
            <a:ext cx="287995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Reduced Manual Effort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Automates analysis that would otherwise require significant analyst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3470622"/>
            <a:ext cx="216986" cy="2169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1661" y="3463528"/>
            <a:ext cx="287995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Better Segmentation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Risk-tiered customer classification enables differentiated retention strategies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4375100"/>
            <a:ext cx="216986" cy="2169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1661" y="4368006"/>
            <a:ext cx="2879951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Revenue Protection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Proactive retention reduces attrition-driven revenue loss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46" y="5069532"/>
            <a:ext cx="216986" cy="21699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1661" y="5062438"/>
            <a:ext cx="287995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Scalable Architecture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Cloud-ready design handles growing customer volumes without redesign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4266796" y="1159570"/>
            <a:ext cx="3558491" cy="5180905"/>
          </a:xfrm>
          <a:prstGeom prst="roundRect">
            <a:avLst>
              <a:gd name="adj" fmla="val 292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4411453" y="1286173"/>
            <a:ext cx="326917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724" y="1661666"/>
            <a:ext cx="216986" cy="2169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81639" y="1654572"/>
            <a:ext cx="279899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Quality Dependency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Prediction quality is bounded by the completeness and accuracy of input data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724" y="2566144"/>
            <a:ext cx="216986" cy="21699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881639" y="2559050"/>
            <a:ext cx="279899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Behavioral Unpredictability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Customer behavior can change due to external factors not captured in historical data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724" y="3470622"/>
            <a:ext cx="216986" cy="21699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881639" y="3463528"/>
            <a:ext cx="279899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Imbalance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Imbalanced churn/non-churn ratios can bias model performance if not addressed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724" y="4375100"/>
            <a:ext cx="216986" cy="21699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881639" y="4368006"/>
            <a:ext cx="279899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Probabilistic Output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Predictions indicate likelihood, not certainty; false positives incur retention costs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5724" y="5279579"/>
            <a:ext cx="216986" cy="216991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4881639" y="5272484"/>
            <a:ext cx="279899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 Drift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Customer behavior patterns evolve; models require periodic retraining to maintain accuracy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8080471" y="1286173"/>
            <a:ext cx="34623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Enhancements</a:t>
            </a:r>
            <a:endParaRPr lang="en-US" sz="14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1661666"/>
            <a:ext cx="216986" cy="216991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8550656" y="1654572"/>
            <a:ext cx="2992164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Real-Time Prediction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Stream processing for live churn scoring as events occur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2356098"/>
            <a:ext cx="216986" cy="216991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550656" y="2349004"/>
            <a:ext cx="2992164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 Learning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LSTM/Transformer models for sequential behavioral pattern recognition</a:t>
            </a:r>
            <a:endParaRPr lang="en-US" sz="11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3050530"/>
            <a:ext cx="216986" cy="216991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8550656" y="3043436"/>
            <a:ext cx="2992164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Explainable AI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SHAP/LIME integration for transparent, auditable prediction explanations</a:t>
            </a:r>
            <a:endParaRPr lang="en-US" sz="11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3744962"/>
            <a:ext cx="216986" cy="216991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8550656" y="3737868"/>
            <a:ext cx="29921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CRM Integration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Direct API integration with Salesforce, HubSpot for automated workflow triggers</a:t>
            </a:r>
            <a:endParaRPr lang="en-US" sz="11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4649440"/>
            <a:ext cx="216986" cy="216991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8550656" y="4642346"/>
            <a:ext cx="29921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CLV Prediction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Extend model to predict customer lifetime value alongside churn probability</a:t>
            </a:r>
            <a:endParaRPr lang="en-US" sz="11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742" y="5553918"/>
            <a:ext cx="216986" cy="216991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8550656" y="5546824"/>
            <a:ext cx="29921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Auto-Retraining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Continuous model retraining pipeline to combat model drift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232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Expected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47366"/>
            <a:ext cx="58360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450181"/>
            <a:ext cx="5836000" cy="92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Customer Churn Prediction System integrates historical service usage, customer support interactions, payment behavior, and behavioral analytics into a unified machine learning pipeline. By combining rigorous data engineering with multiple classification algorithms, the system delivers individual-level churn probability scores and risk segmentation that enable organizations to act before customers leave.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2471341"/>
            <a:ext cx="58360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3081" y="2831108"/>
            <a:ext cx="544439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At-Risk Identification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3081" y="3133923"/>
            <a:ext cx="544439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Systematic, automated identification of high-risk customers that manual processes would miss or identify too late.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3081" y="3748187"/>
            <a:ext cx="544439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Prioritized Retention Effort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3081" y="4051002"/>
            <a:ext cx="544439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probability scores enable retention teams to allocate resources to the customers most likely to leave and most valuable to retain.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3081" y="4665266"/>
            <a:ext cx="544439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 Factor Revelation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3081" y="4968081"/>
            <a:ext cx="544439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importance analysis surfaces the root behavioral drivers of attrition, informing product, support, and pricing strategy.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3081" y="5582345"/>
            <a:ext cx="544439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Measurable Attrition Reduction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3081" y="5885160"/>
            <a:ext cx="5444393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engagement of high-risk customers, guided by model insights, is expected to produce measurable reduction in churn rate and associated revenue loss.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5970" y="1046460"/>
            <a:ext cx="4903466" cy="5320308"/>
          </a:xfrm>
          <a:prstGeom prst="roundRect">
            <a:avLst>
              <a:gd name="adj" fmla="val 189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5150" y="1147366"/>
            <a:ext cx="46451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Business Impact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5150" y="1450181"/>
            <a:ext cx="46451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transforms raw customer data into actionable intelligence, enabling organizations to move decisively from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reactive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predictive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retention strategies.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5150" y="1931789"/>
            <a:ext cx="2272053" cy="1310084"/>
          </a:xfrm>
          <a:prstGeom prst="roundRect">
            <a:avLst>
              <a:gd name="adj" fmla="val 41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0679" y="2067322"/>
            <a:ext cx="2000994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Analysis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0679" y="2370138"/>
            <a:ext cx="2000994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pipeline eliminates repetitive analyst work, freeing teams for higher-value strategic tasks.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28105" y="1931789"/>
            <a:ext cx="2272152" cy="1310084"/>
          </a:xfrm>
          <a:prstGeom prst="roundRect">
            <a:avLst>
              <a:gd name="adj" fmla="val 41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634" y="2067322"/>
            <a:ext cx="2001093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Culture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63634" y="2370138"/>
            <a:ext cx="2001093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Embeds evidence-based decision-making into retention operations, replacing intuition-driven approaches.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5150" y="3342779"/>
            <a:ext cx="4645107" cy="1126034"/>
          </a:xfrm>
          <a:prstGeom prst="roundRect">
            <a:avLst>
              <a:gd name="adj" fmla="val 481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0679" y="3478312"/>
            <a:ext cx="4374048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Competitive Advantage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0679" y="3781127"/>
            <a:ext cx="4374048" cy="55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competitive subscription markets, superior churn intelligence directly supports sustainable revenue growth and customer lifetime value maximization.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5150" y="4582319"/>
            <a:ext cx="4645107" cy="982266"/>
          </a:xfrm>
          <a:prstGeom prst="roundRect">
            <a:avLst>
              <a:gd name="adj" fmla="val 5525"/>
            </a:avLst>
          </a:prstGeom>
          <a:solidFill>
            <a:srgbClr val="34344B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329" y="4735711"/>
            <a:ext cx="161425" cy="12918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74934" y="4705350"/>
            <a:ext cx="4096144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Contribution: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project demonstrates the end-to-end application of supervised machine learning to a high-impact business problem — from raw data ingestion through actionable prediction and visualization.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1924</Words>
  <Application>Microsoft Macintosh PowerPoint</Application>
  <PresentationFormat>Widescreen</PresentationFormat>
  <Paragraphs>224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 Bold</vt:lpstr>
      <vt:lpstr>Arial</vt:lpstr>
      <vt:lpstr>Roboto</vt:lpstr>
      <vt:lpstr>Raleway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2026-08-19T04:46:55Z</dcterms:created>
  <dcterms:modified xsi:type="dcterms:W3CDTF">2026-08-31T08:25:25Z</dcterms:modified>
</cp:coreProperties>
</file>